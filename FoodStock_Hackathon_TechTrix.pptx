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media/media2.svg" ContentType="image/svg+xml"/>
  <Override PartName="/ppt/media/media3.svg" ContentType="image/svg+xml"/>
  <Override PartName="/ppt/media/media4.svg" ContentType="image/svg+xml"/>
  <Override PartName="/ppt/media/media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tableStyles" Target="tableStyles.xml"/><Relationship Id="rId13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BA25CC-A3C9-BEDB-59F7-F33A31CAA6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CE647D-B554-7CDA-8D2D-483A286B81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D59D39-4CD6-1165-75C3-852DF7AF01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51E8FA-6E26-EAC3-BEF9-FA442254C9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F027F6-5AEC-9526-4038-C47454B7FD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A9C94-2175-A904-0C60-4C1E4093A9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3640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827573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870211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755419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88003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0058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66794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07052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26789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6050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80829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2976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26550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8385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57542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2315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835610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023897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34791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4952877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31916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634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6386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51742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199251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165342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41338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533998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046049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8119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236183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8486955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310702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29018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5999342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533276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75835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001397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88212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94394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50937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02203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0417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169560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66559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9993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445426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122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6458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28320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43115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821542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35005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24487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332374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722314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245241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07871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64559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12436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717519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2611827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74629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media1.svg"/><Relationship Id="rId6" Type="http://schemas.openxmlformats.org/officeDocument/2006/relationships/image" Target="../media/image3.png"/><Relationship Id="rId7" Type="http://schemas.openxmlformats.org/officeDocument/2006/relationships/image" Target="../media/media2.svg"/><Relationship Id="rId8" Type="http://schemas.openxmlformats.org/officeDocument/2006/relationships/image" Target="../media/image4.png"/><Relationship Id="rId9" Type="http://schemas.openxmlformats.org/officeDocument/2006/relationships/image" Target="../media/media3.svg"/><Relationship Id="rId10" Type="http://schemas.openxmlformats.org/officeDocument/2006/relationships/image" Target="../media/image5.png"/><Relationship Id="rId11" Type="http://schemas.openxmlformats.org/officeDocument/2006/relationships/image" Target="../media/media4.sv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1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9.jp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media5.svg"/><Relationship Id="rId7" Type="http://schemas.openxmlformats.org/officeDocument/2006/relationships/image" Target="../media/image9.jp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jp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9.jp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9.jp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653840" name="Freeform 2"/>
          <p:cNvSpPr/>
          <p:nvPr/>
        </p:nvSpPr>
        <p:spPr bwMode="auto">
          <a:xfrm rot="0" flipH="0" flipV="0">
            <a:off x="-476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66335917" name="Freeform 3"/>
          <p:cNvSpPr/>
          <p:nvPr/>
        </p:nvSpPr>
        <p:spPr bwMode="auto">
          <a:xfrm rot="-5400000" flipH="0" flipV="0">
            <a:off x="16128202" y="201420"/>
            <a:ext cx="3764454" cy="3702854"/>
          </a:xfrm>
          <a:custGeom>
            <a:avLst/>
            <a:gdLst/>
            <a:ahLst/>
            <a:cxnLst/>
            <a:rect l="l" t="t" r="r" b="b"/>
            <a:pathLst>
              <a:path w="3764454" h="3702854" fill="norm" stroke="1" extrusionOk="0">
                <a:moveTo>
                  <a:pt x="0" y="0"/>
                </a:moveTo>
                <a:lnTo>
                  <a:pt x="3764455" y="0"/>
                </a:lnTo>
                <a:lnTo>
                  <a:pt x="3764455" y="3702855"/>
                </a:lnTo>
                <a:lnTo>
                  <a:pt x="0" y="3702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921884611" name="Freeform 4"/>
          <p:cNvSpPr/>
          <p:nvPr/>
        </p:nvSpPr>
        <p:spPr bwMode="auto">
          <a:xfrm rot="0" flipH="1" flipV="0">
            <a:off x="18010428" y="2608020"/>
            <a:ext cx="4845062" cy="6515364"/>
          </a:xfrm>
          <a:custGeom>
            <a:avLst/>
            <a:gdLst/>
            <a:ahLst/>
            <a:cxnLst/>
            <a:rect l="l" t="t" r="r" b="b"/>
            <a:pathLst>
              <a:path w="4845062" h="6515364" fill="norm" stroke="1" extrusionOk="0">
                <a:moveTo>
                  <a:pt x="4845062" y="0"/>
                </a:moveTo>
                <a:lnTo>
                  <a:pt x="0" y="0"/>
                </a:lnTo>
                <a:lnTo>
                  <a:pt x="0" y="6515364"/>
                </a:lnTo>
                <a:lnTo>
                  <a:pt x="4845062" y="6515364"/>
                </a:lnTo>
                <a:lnTo>
                  <a:pt x="4845062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751940707" name="Freeform 5"/>
          <p:cNvSpPr/>
          <p:nvPr/>
        </p:nvSpPr>
        <p:spPr bwMode="auto">
          <a:xfrm rot="0" flipH="0" flipV="0">
            <a:off x="15693216" y="7821861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 fill="norm" stroke="1" extrusionOk="0">
                <a:moveTo>
                  <a:pt x="0" y="0"/>
                </a:moveTo>
                <a:lnTo>
                  <a:pt x="1494485" y="0"/>
                </a:lnTo>
                <a:lnTo>
                  <a:pt x="1494485" y="1741456"/>
                </a:lnTo>
                <a:lnTo>
                  <a:pt x="0" y="1741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833792437" name="Freeform 6"/>
          <p:cNvSpPr/>
          <p:nvPr/>
        </p:nvSpPr>
        <p:spPr bwMode="auto">
          <a:xfrm rot="0" flipH="0" flipV="0">
            <a:off x="16535252" y="0"/>
            <a:ext cx="2100643" cy="2608021"/>
          </a:xfrm>
          <a:custGeom>
            <a:avLst/>
            <a:gdLst/>
            <a:ahLst/>
            <a:cxnLst/>
            <a:rect l="l" t="t" r="r" b="b"/>
            <a:pathLst>
              <a:path w="2100643" h="2608021" fill="norm" stroke="1" extrusionOk="0">
                <a:moveTo>
                  <a:pt x="0" y="0"/>
                </a:moveTo>
                <a:lnTo>
                  <a:pt x="2100642" y="0"/>
                </a:lnTo>
                <a:lnTo>
                  <a:pt x="2100642" y="2608021"/>
                </a:lnTo>
                <a:lnTo>
                  <a:pt x="0" y="2608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504921456" name="Freeform 7"/>
          <p:cNvSpPr/>
          <p:nvPr/>
        </p:nvSpPr>
        <p:spPr bwMode="auto">
          <a:xfrm rot="0" flipH="0" flipV="0">
            <a:off x="-459730" y="8494591"/>
            <a:ext cx="2976861" cy="2928148"/>
          </a:xfrm>
          <a:custGeom>
            <a:avLst/>
            <a:gdLst/>
            <a:ahLst/>
            <a:cxnLst/>
            <a:rect l="l" t="t" r="r" b="b"/>
            <a:pathLst>
              <a:path w="2976861" h="2928148" fill="norm" stroke="1" extrusionOk="0">
                <a:moveTo>
                  <a:pt x="0" y="0"/>
                </a:moveTo>
                <a:lnTo>
                  <a:pt x="2976860" y="0"/>
                </a:lnTo>
                <a:lnTo>
                  <a:pt x="2976860" y="2928149"/>
                </a:lnTo>
                <a:lnTo>
                  <a:pt x="0" y="292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4" name="TextBox 14"/>
          <p:cNvSpPr txBox="1"/>
          <p:nvPr/>
        </p:nvSpPr>
        <p:spPr bwMode="auto">
          <a:xfrm rot="0" flipH="0" flipV="0">
            <a:off x="1323974" y="1767096"/>
            <a:ext cx="15544800" cy="222225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7200"/>
              </a:lnSpc>
              <a:defRPr/>
            </a:pPr>
            <a:r>
              <a:rPr lang="en-US" sz="6000" b="0">
                <a:solidFill>
                  <a:srgbClr val="1F497D"/>
                </a:solidFill>
                <a:latin typeface="Georgia"/>
                <a:ea typeface="Georgia"/>
                <a:cs typeface="Georgia"/>
              </a:rPr>
              <a:t>Hackathon - TechTrix</a:t>
            </a:r>
            <a:endParaRPr b="0">
              <a:latin typeface="Georgia"/>
              <a:cs typeface="Georgia"/>
            </a:endParaRPr>
          </a:p>
        </p:txBody>
      </p:sp>
      <p:sp>
        <p:nvSpPr>
          <p:cNvPr id="1126988929" name="TextBox 15"/>
          <p:cNvSpPr txBox="1"/>
          <p:nvPr/>
        </p:nvSpPr>
        <p:spPr bwMode="auto">
          <a:xfrm rot="0" flipH="0" flipV="0">
            <a:off x="914400" y="2651760"/>
            <a:ext cx="8961120" cy="6858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just">
              <a:lnSpc>
                <a:spcPts val="8639"/>
              </a:lnSpc>
              <a:spcAft>
                <a:spcPts val="600"/>
              </a:spcAft>
              <a:defRPr sz="4000" b="1">
                <a:solidFill>
                  <a:srgbClr val="1F497D"/>
                </a:solidFill>
                <a:latin typeface="Georgia"/>
              </a:defRPr>
            </a:pPr>
            <a:r>
              <a:t>FoodStock</a:t>
            </a:r>
            <a:endParaRPr sz="1800" b="0">
              <a:solidFill>
                <a:schemeClr val="tx2">
                  <a:lumMod val="75000"/>
                </a:schemeClr>
              </a:solidFill>
              <a:latin typeface="Georgia"/>
              <a:cs typeface="Georgia"/>
            </a:endParaRPr>
          </a:p>
          <a:p>
            <a:pPr>
              <a:spcAft>
                <a:spcPts val="18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t>Smart Commodity Stock Allocation &amp; FIFO Management in iPDS Godowns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PS Category: Software (GovTech / Smart Supply Chain Automation)</a:t>
            </a:r>
          </a:p>
          <a:p>
            <a:pPr>
              <a:spcAft>
                <a:spcPts val="1400"/>
              </a:spcAft>
              <a:defRPr sz="1600" b="1">
                <a:solidFill>
                  <a:srgbClr val="1F497D"/>
                </a:solidFill>
                <a:latin typeface="Segoe UI"/>
              </a:defRPr>
            </a:pPr>
            <a:r>
              <a:t>Team Name (Registered): [Insert Team Name]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Team Member Details: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Member 1 (Team Lead / Full Stack): [Name] • [Contact/Email] • [College]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Member 2 (Backend &amp; Architecture): [Name] • [Contact/Email] • [College]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Member 3 (UI/UX &amp; Frontend): [Name] • [Contact/Email] • [College]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Member 4 (Domain &amp; PDS Research): [Name] • [Contact/Email] • [College]</a:t>
            </a:r>
          </a:p>
        </p:txBody>
      </p:sp>
      <p:sp>
        <p:nvSpPr>
          <p:cNvPr id="1453139873" name=""/>
          <p:cNvSpPr/>
          <p:nvPr/>
        </p:nvSpPr>
        <p:spPr bwMode="auto">
          <a:xfrm rot="0" flipH="0" flipV="0">
            <a:off x="526311" y="304799"/>
            <a:ext cx="1809750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575294573" name="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 flipH="0" flipV="0">
            <a:off x="773428" y="386190"/>
            <a:ext cx="1336234" cy="1380906"/>
          </a:xfrm>
          <a:prstGeom prst="rect">
            <a:avLst/>
          </a:prstGeom>
        </p:spPr>
      </p:pic>
      <p:sp>
        <p:nvSpPr>
          <p:cNvPr id="577254192" name=""/>
          <p:cNvSpPr/>
          <p:nvPr/>
        </p:nvSpPr>
        <p:spPr bwMode="auto">
          <a:xfrm rot="0" flipH="0" flipV="0">
            <a:off x="14691452" y="386190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316514779" name="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 flipH="0" flipV="0">
            <a:off x="14745671" y="467151"/>
            <a:ext cx="3010232" cy="1290637"/>
          </a:xfrm>
          <a:prstGeom prst="rect">
            <a:avLst/>
          </a:prstGeom>
        </p:spPr>
      </p:pic>
      <p:sp>
        <p:nvSpPr>
          <p:cNvPr id="450393932" name=""/>
          <p:cNvSpPr/>
          <p:nvPr/>
        </p:nvSpPr>
        <p:spPr bwMode="auto">
          <a:xfrm rot="0" flipH="0" flipV="0">
            <a:off x="8418319" y="386190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504282639" name=""/>
          <p:cNvPicPr>
            <a:picLocks noChangeAspect="1"/>
          </p:cNvPicPr>
          <p:nvPr/>
        </p:nvPicPr>
        <p:blipFill rotWithShape="1">
          <a:blip r:embed="rId14"/>
          <a:srcRect l="26871" t="33796" r="25074" b="35879"/>
          <a:stretch/>
        </p:blipFill>
        <p:spPr bwMode="auto">
          <a:xfrm flipH="0" flipV="0">
            <a:off x="8530999" y="516765"/>
            <a:ext cx="1584389" cy="1250331"/>
          </a:xfrm>
          <a:prstGeom prst="rect">
            <a:avLst/>
          </a:prstGeom>
        </p:spPr>
      </p:pic>
      <p:pic>
        <p:nvPicPr>
          <p:cNvPr id="1921884612" name="Picture 1921884611" descr="hero_godown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1280" y="2651760"/>
            <a:ext cx="7132320" cy="6217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600748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  <p:txBody>
          <a:bodyPr/>
          <a:p/>
        </p:txBody>
      </p:sp>
      <p:sp>
        <p:nvSpPr>
          <p:cNvPr id="1806923974" name="Freeform 3"/>
          <p:cNvSpPr/>
          <p:nvPr/>
        </p:nvSpPr>
        <p:spPr bwMode="auto">
          <a:xfrm rot="-5400000" flipH="0" flipV="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 fill="norm" stroke="1" extrusionOk="0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833529190" name="Freeform 4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841186740" name="Freeform 5"/>
          <p:cNvSpPr/>
          <p:nvPr/>
        </p:nvSpPr>
        <p:spPr bwMode="auto">
          <a:xfrm rot="-10800000" flipH="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393535841" name="Freeform 6"/>
          <p:cNvSpPr/>
          <p:nvPr/>
        </p:nvSpPr>
        <p:spPr bwMode="auto">
          <a:xfrm rot="0" flipH="0" flipV="0">
            <a:off x="16121194" y="7269473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 fill="norm" stroke="1" extrusionOk="0">
                <a:moveTo>
                  <a:pt x="0" y="0"/>
                </a:moveTo>
                <a:lnTo>
                  <a:pt x="1334515" y="0"/>
                </a:lnTo>
                <a:lnTo>
                  <a:pt x="1334515" y="1555049"/>
                </a:lnTo>
                <a:lnTo>
                  <a:pt x="0" y="1555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2014160832" name="Freeform 7"/>
          <p:cNvSpPr/>
          <p:nvPr/>
        </p:nvSpPr>
        <p:spPr bwMode="auto">
          <a:xfrm rot="-10800000" flipH="0" flipV="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id="1091083496" name="Group 13"/>
          <p:cNvGrpSpPr/>
          <p:nvPr/>
        </p:nvGrpSpPr>
        <p:grpSpPr bwMode="auto">
          <a:xfrm rot="0">
            <a:off x="628528" y="1513503"/>
            <a:ext cx="16459200" cy="1714500"/>
            <a:chOff x="0" y="0"/>
            <a:chExt cx="21945600" cy="2286000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l="0" t="-137056" r="0" b="-137056"/>
              </a:stretch>
            </a:blipFill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r>
                <a:t>IDEA: FOODSTOCK - AUTOMATED FIFO &amp; MULTI-BATCH SLICING</a:t>
              </a:r>
            </a:p>
          </p:txBody>
        </p:sp>
      </p:grpSp>
      <p:sp>
        <p:nvSpPr>
          <p:cNvPr id="434111992" name="TextBox 16"/>
          <p:cNvSpPr txBox="1"/>
          <p:nvPr/>
        </p:nvSpPr>
        <p:spPr bwMode="auto">
          <a:xfrm rot="0" flipH="0" flipV="0">
            <a:off x="855363" y="3837822"/>
            <a:ext cx="14555561" cy="329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8680" lvl="1" indent="-434340" algn="l">
              <a:lnSpc>
                <a:spcPts val="5759"/>
              </a:lnSpc>
              <a:buFont typeface="Arial"/>
              <a:buChar char="•"/>
              <a:defRPr/>
            </a:pPr>
            <a:endParaRPr sz="3600" b="0">
              <a:latin typeface="Georgia"/>
              <a:cs typeface="Georgia"/>
            </a:endParaRPr>
          </a:p>
        </p:txBody>
      </p:sp>
      <p:sp>
        <p:nvSpPr>
          <p:cNvPr id="1674112464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188185711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163021959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30192753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529283740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515437131" name=""/>
          <p:cNvPicPr>
            <a:picLocks noChangeAspect="1"/>
          </p:cNvPicPr>
          <p:nvPr/>
        </p:nvPicPr>
        <p:blipFill rotWithShape="1">
          <a:blip r:embed="rId11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  <p:pic>
        <p:nvPicPr>
          <p:cNvPr id="2014160833" name="Picture 2014160832" descr="slide2_fifo_diagra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108960"/>
            <a:ext cx="16459200" cy="6583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390993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  <p:txBody>
          <a:bodyPr/>
          <a:p/>
        </p:txBody>
      </p:sp>
      <p:sp>
        <p:nvSpPr>
          <p:cNvPr id="1635655700" name="Freeform 3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988771879" name="Freeform 4"/>
          <p:cNvSpPr/>
          <p:nvPr/>
        </p:nvSpPr>
        <p:spPr bwMode="auto">
          <a:xfrm rot="0" flipH="0" flipV="0">
            <a:off x="16671206" y="25864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809165144" name="Freeform 5"/>
          <p:cNvSpPr/>
          <p:nvPr/>
        </p:nvSpPr>
        <p:spPr bwMode="auto">
          <a:xfrm rot="0" flipH="0" flipV="0">
            <a:off x="0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 fill="norm" stroke="1" extrusionOk="0">
                <a:moveTo>
                  <a:pt x="0" y="0"/>
                </a:moveTo>
                <a:lnTo>
                  <a:pt x="2464243" y="0"/>
                </a:lnTo>
                <a:lnTo>
                  <a:pt x="2464243" y="2464243"/>
                </a:lnTo>
                <a:lnTo>
                  <a:pt x="0" y="2464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068137768" name="Freeform 6"/>
          <p:cNvSpPr/>
          <p:nvPr/>
        </p:nvSpPr>
        <p:spPr bwMode="auto">
          <a:xfrm rot="0" flipH="1" flipV="0">
            <a:off x="15823757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 fill="norm" stroke="1" extrusionOk="0">
                <a:moveTo>
                  <a:pt x="2464243" y="0"/>
                </a:moveTo>
                <a:lnTo>
                  <a:pt x="0" y="0"/>
                </a:lnTo>
                <a:lnTo>
                  <a:pt x="0" y="2464243"/>
                </a:lnTo>
                <a:lnTo>
                  <a:pt x="2464243" y="2464243"/>
                </a:lnTo>
                <a:lnTo>
                  <a:pt x="2464243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id="523938700" name="Group 7"/>
          <p:cNvGrpSpPr/>
          <p:nvPr/>
        </p:nvGrpSpPr>
        <p:grpSpPr bwMode="auto">
          <a:xfrm rot="0">
            <a:off x="1232122" y="1834285"/>
            <a:ext cx="16459200" cy="1714500"/>
            <a:chOff x="0" y="0"/>
            <a:chExt cx="21945600" cy="22860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  <a:defRPr/>
              </a:pPr>
              <a:r>
                <a:rPr lang="en-US" sz="5400" b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</a:rPr>
                <a:t>TECHNICAL APPROACH</a:t>
              </a:r>
              <a:endParaRPr b="0"/>
            </a:p>
          </p:txBody>
        </p:sp>
      </p:grpSp>
      <p:sp>
        <p:nvSpPr>
          <p:cNvPr id="1571476701" name="TextBox 10"/>
          <p:cNvSpPr txBox="1"/>
          <p:nvPr/>
        </p:nvSpPr>
        <p:spPr bwMode="auto">
          <a:xfrm rot="0">
            <a:off x="926799" y="3744096"/>
            <a:ext cx="13896869" cy="256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7" algn="l">
              <a:lnSpc>
                <a:spcPts val="5039"/>
              </a:lnSpc>
              <a:buFont typeface="Arial"/>
              <a:buChar char="•"/>
              <a:defRPr/>
            </a:pPr>
            <a:endParaRPr sz="3600">
              <a:latin typeface="Georgia"/>
              <a:cs typeface="Georgia"/>
            </a:endParaRPr>
          </a:p>
        </p:txBody>
      </p:sp>
      <p:sp>
        <p:nvSpPr>
          <p:cNvPr id="1041704754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82650659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605740483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511915464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673946822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638832417" name=""/>
          <p:cNvPicPr>
            <a:picLocks noChangeAspect="1"/>
          </p:cNvPicPr>
          <p:nvPr/>
        </p:nvPicPr>
        <p:blipFill rotWithShape="1">
          <a:blip r:embed="rId10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  <p:pic>
        <p:nvPicPr>
          <p:cNvPr id="1988771880" name="Picture 1988771879" descr="slide3_architectur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3108960"/>
            <a:ext cx="16459200" cy="6583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215653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  <p:txBody>
          <a:bodyPr/>
          <a:p/>
        </p:txBody>
      </p:sp>
      <p:sp>
        <p:nvSpPr>
          <p:cNvPr id="1259602068" name="Freeform 3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590217133" name="Freeform 4"/>
          <p:cNvSpPr/>
          <p:nvPr/>
        </p:nvSpPr>
        <p:spPr bwMode="auto">
          <a:xfrm rot="0" flipH="0" flipV="0">
            <a:off x="16671206" y="25864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858135397" name="Freeform 5"/>
          <p:cNvSpPr/>
          <p:nvPr/>
        </p:nvSpPr>
        <p:spPr bwMode="auto">
          <a:xfrm rot="0" flipH="0" flipV="0">
            <a:off x="0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 fill="norm" stroke="1" extrusionOk="0">
                <a:moveTo>
                  <a:pt x="0" y="0"/>
                </a:moveTo>
                <a:lnTo>
                  <a:pt x="2464243" y="0"/>
                </a:lnTo>
                <a:lnTo>
                  <a:pt x="2464243" y="2464243"/>
                </a:lnTo>
                <a:lnTo>
                  <a:pt x="0" y="2464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345971646" name="Freeform 6"/>
          <p:cNvSpPr/>
          <p:nvPr/>
        </p:nvSpPr>
        <p:spPr bwMode="auto">
          <a:xfrm rot="0" flipH="1" flipV="0">
            <a:off x="15823757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 fill="norm" stroke="1" extrusionOk="0">
                <a:moveTo>
                  <a:pt x="2464243" y="0"/>
                </a:moveTo>
                <a:lnTo>
                  <a:pt x="0" y="0"/>
                </a:lnTo>
                <a:lnTo>
                  <a:pt x="0" y="2464243"/>
                </a:lnTo>
                <a:lnTo>
                  <a:pt x="2464243" y="2464243"/>
                </a:lnTo>
                <a:lnTo>
                  <a:pt x="2464243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id="271200212" name="Group 15"/>
          <p:cNvGrpSpPr/>
          <p:nvPr/>
        </p:nvGrpSpPr>
        <p:grpSpPr bwMode="auto">
          <a:xfrm rot="0">
            <a:off x="914400" y="1801436"/>
            <a:ext cx="16459200" cy="1714500"/>
            <a:chOff x="0" y="0"/>
            <a:chExt cx="21945600" cy="228600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  <a:defRPr/>
              </a:pPr>
              <a:r>
                <a:rPr lang="en-US" sz="5400" b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</a:rPr>
                <a:t>FEASIBILITY AND VIABILITY</a:t>
              </a:r>
              <a:endParaRPr b="0"/>
            </a:p>
          </p:txBody>
        </p:sp>
      </p:grpSp>
      <p:sp>
        <p:nvSpPr>
          <p:cNvPr id="1759578833" name="TextBox 18"/>
          <p:cNvSpPr txBox="1"/>
          <p:nvPr/>
        </p:nvSpPr>
        <p:spPr bwMode="auto">
          <a:xfrm rot="0">
            <a:off x="927879" y="3798049"/>
            <a:ext cx="13896509" cy="192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7" algn="just">
              <a:lnSpc>
                <a:spcPts val="5039"/>
              </a:lnSpc>
              <a:buFont typeface="Arial"/>
              <a:buChar char="•"/>
              <a:defRPr/>
            </a:pPr>
            <a:endParaRPr sz="3600">
              <a:latin typeface="Georgia"/>
              <a:cs typeface="Georgia"/>
            </a:endParaRPr>
          </a:p>
        </p:txBody>
      </p:sp>
      <p:sp>
        <p:nvSpPr>
          <p:cNvPr id="994417430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423437875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988008241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597478162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1437482515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20343969" name=""/>
          <p:cNvPicPr>
            <a:picLocks noChangeAspect="1"/>
          </p:cNvPicPr>
          <p:nvPr/>
        </p:nvPicPr>
        <p:blipFill rotWithShape="1">
          <a:blip r:embed="rId9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  <p:pic>
        <p:nvPicPr>
          <p:cNvPr id="2011215654" name="Picture 2011215653" descr="slide4_feasibility_matrix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3108960"/>
            <a:ext cx="16459200" cy="6583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949357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  <p:txBody>
          <a:bodyPr/>
          <a:p/>
        </p:txBody>
      </p:sp>
      <p:sp>
        <p:nvSpPr>
          <p:cNvPr id="215564946" name="Freeform 3"/>
          <p:cNvSpPr/>
          <p:nvPr/>
        </p:nvSpPr>
        <p:spPr bwMode="auto">
          <a:xfrm rot="-5400000" flipH="0" flipV="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 fill="norm" stroke="1" extrusionOk="0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650915175" name="Freeform 4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511337784" name="Freeform 5"/>
          <p:cNvSpPr/>
          <p:nvPr/>
        </p:nvSpPr>
        <p:spPr bwMode="auto">
          <a:xfrm rot="-10800000" flipH="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646749565" name="Freeform 6"/>
          <p:cNvSpPr/>
          <p:nvPr/>
        </p:nvSpPr>
        <p:spPr bwMode="auto">
          <a:xfrm rot="0" flipH="0" flipV="0">
            <a:off x="16121194" y="7269473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 fill="norm" stroke="1" extrusionOk="0">
                <a:moveTo>
                  <a:pt x="0" y="0"/>
                </a:moveTo>
                <a:lnTo>
                  <a:pt x="1334515" y="0"/>
                </a:lnTo>
                <a:lnTo>
                  <a:pt x="1334515" y="1555049"/>
                </a:lnTo>
                <a:lnTo>
                  <a:pt x="0" y="1555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825210612" name="Freeform 7"/>
          <p:cNvSpPr/>
          <p:nvPr/>
        </p:nvSpPr>
        <p:spPr bwMode="auto">
          <a:xfrm rot="-10800000" flipH="0" flipV="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id="1931352244" name="Group 16"/>
          <p:cNvGrpSpPr/>
          <p:nvPr/>
        </p:nvGrpSpPr>
        <p:grpSpPr bwMode="auto">
          <a:xfrm rot="0">
            <a:off x="996509" y="1801436"/>
            <a:ext cx="16459200" cy="1714500"/>
            <a:chOff x="0" y="0"/>
            <a:chExt cx="21945600" cy="228600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  <a:defRPr/>
              </a:pPr>
              <a:r>
                <a:rPr lang="en-US" sz="5400" b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</a:rPr>
                <a:t>IMPACT AND BENEFITS</a:t>
              </a:r>
              <a:endParaRPr b="0"/>
            </a:p>
          </p:txBody>
        </p:sp>
      </p:grpSp>
      <p:sp>
        <p:nvSpPr>
          <p:cNvPr id="1262345273" name="TextBox 19"/>
          <p:cNvSpPr txBox="1"/>
          <p:nvPr/>
        </p:nvSpPr>
        <p:spPr bwMode="auto">
          <a:xfrm rot="0">
            <a:off x="927878" y="3862978"/>
            <a:ext cx="13896509" cy="128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7" algn="just">
              <a:lnSpc>
                <a:spcPts val="5039"/>
              </a:lnSpc>
              <a:buFont typeface="Arial"/>
              <a:buChar char="•"/>
              <a:defRPr/>
            </a:pPr>
            <a:endParaRPr sz="3600">
              <a:latin typeface="Georgia"/>
              <a:cs typeface="Georgia"/>
            </a:endParaRPr>
          </a:p>
        </p:txBody>
      </p:sp>
      <p:sp>
        <p:nvSpPr>
          <p:cNvPr id="952100485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284943819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1843656528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415685000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1042816745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417170243" name=""/>
          <p:cNvPicPr>
            <a:picLocks noChangeAspect="1"/>
          </p:cNvPicPr>
          <p:nvPr/>
        </p:nvPicPr>
        <p:blipFill rotWithShape="1">
          <a:blip r:embed="rId11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  <p:pic>
        <p:nvPicPr>
          <p:cNvPr id="1931352245" name="Picture 1931352244" descr="slide5_impact_metric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108960"/>
            <a:ext cx="16459200" cy="6583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015881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  <p:txBody>
          <a:bodyPr/>
          <a:p/>
        </p:txBody>
      </p:sp>
      <p:sp>
        <p:nvSpPr>
          <p:cNvPr id="1398354276" name="Freeform 3"/>
          <p:cNvSpPr/>
          <p:nvPr/>
        </p:nvSpPr>
        <p:spPr bwMode="auto">
          <a:xfrm rot="-5400000" flipH="0" flipV="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 fill="norm" stroke="1" extrusionOk="0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945153007" name="Freeform 4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593042225" name="Freeform 5"/>
          <p:cNvSpPr/>
          <p:nvPr/>
        </p:nvSpPr>
        <p:spPr bwMode="auto">
          <a:xfrm rot="-10800000" flipH="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489686045" name="Freeform 6"/>
          <p:cNvSpPr/>
          <p:nvPr/>
        </p:nvSpPr>
        <p:spPr bwMode="auto">
          <a:xfrm rot="0" flipH="0" flipV="0">
            <a:off x="16121194" y="7269473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 fill="norm" stroke="1" extrusionOk="0">
                <a:moveTo>
                  <a:pt x="0" y="0"/>
                </a:moveTo>
                <a:lnTo>
                  <a:pt x="1334515" y="0"/>
                </a:lnTo>
                <a:lnTo>
                  <a:pt x="1334515" y="1555049"/>
                </a:lnTo>
                <a:lnTo>
                  <a:pt x="0" y="1555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777344499" name="Freeform 7"/>
          <p:cNvSpPr/>
          <p:nvPr/>
        </p:nvSpPr>
        <p:spPr bwMode="auto">
          <a:xfrm rot="-10800000" flipH="0" flipV="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id="302205153" name="Group 16"/>
          <p:cNvGrpSpPr/>
          <p:nvPr/>
        </p:nvGrpSpPr>
        <p:grpSpPr bwMode="auto">
          <a:xfrm rot="0">
            <a:off x="914400" y="2005670"/>
            <a:ext cx="16459200" cy="1714500"/>
            <a:chOff x="0" y="0"/>
            <a:chExt cx="21945600" cy="228600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  <a:defRPr/>
              </a:pPr>
              <a:r>
                <a:rPr lang="en-US" sz="5400" b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</a:rPr>
                <a:t>RESEARCH  AND REFERENCES</a:t>
              </a:r>
              <a:endParaRPr b="0"/>
            </a:p>
          </p:txBody>
        </p:sp>
      </p:grpSp>
      <p:sp>
        <p:nvSpPr>
          <p:cNvPr id="629602924" name="TextBox 19"/>
          <p:cNvSpPr txBox="1"/>
          <p:nvPr/>
        </p:nvSpPr>
        <p:spPr bwMode="auto">
          <a:xfrm rot="0">
            <a:off x="1028700" y="3920503"/>
            <a:ext cx="13896149" cy="64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7" algn="just">
              <a:lnSpc>
                <a:spcPts val="5039"/>
              </a:lnSpc>
              <a:buFont typeface="Arial"/>
              <a:buChar char="•"/>
              <a:defRPr/>
            </a:pPr>
            <a:endParaRPr>
              <a:latin typeface="Georgia"/>
              <a:cs typeface="Georgia"/>
            </a:endParaRPr>
          </a:p>
        </p:txBody>
      </p:sp>
      <p:sp>
        <p:nvSpPr>
          <p:cNvPr id="1170463752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507543386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780310890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668999698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335618373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324801677" name=""/>
          <p:cNvPicPr>
            <a:picLocks noChangeAspect="1"/>
          </p:cNvPicPr>
          <p:nvPr/>
        </p:nvPicPr>
        <p:blipFill rotWithShape="1">
          <a:blip r:embed="rId11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  <p:pic>
        <p:nvPicPr>
          <p:cNvPr id="1668999699" name="Picture 1668999698" descr="slide6_research_framewor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108960"/>
            <a:ext cx="16459200" cy="6583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I.T.S ENGINEERING COLLEGE</dc:title>
  <dc:identifier>DAHYiCJG-bc</dc:identifier>
  <cp:lastModifiedBy/>
  <cp:revision>2</cp:revision>
  <dcterms:created xsi:type="dcterms:W3CDTF">2006-08-16T00:00:00Z</dcterms:created>
  <dcterms:modified xsi:type="dcterms:W3CDTF">2026-10-21T13:45:27Z</dcterms:modified>
</cp:coreProperties>
</file>